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embeddedFontLst>
    <p:embeddedFont>
      <p:font typeface="Quattrocento Sans" panose="020B0502050000020003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91" y="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590065b33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g3f590065b33_2_4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f590065b33_2_4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90065b33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3f590065b33_2_18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f590065b33_2_18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90065b33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g3f590065b33_2_40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590065b33_2_40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90065b33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f590065b33_2_90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590065b33_2_90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590065b33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f590065b33_2_140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590065b33_2_140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590065b33_2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f590065b33_2_176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f590065b33_2_176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590065b33_2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f590065b33_2_217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590065b33_2_217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590065b33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g3f590065b33_2_281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590065b33_2_281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590065b33_2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g3f590065b33_2_338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590065b33_2_338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590065b33_2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g3f590065b33_2_370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f590065b33_2_370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590065b33_2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040" cy="2314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g3f590065b33_2_415:notes"/>
          <p:cNvSpPr txBox="1">
            <a:spLocks noGrp="1"/>
          </p:cNvSpPr>
          <p:nvPr>
            <p:ph type="body" idx="1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f590065b33_2_415:notes"/>
          <p:cNvSpPr txBox="1">
            <a:spLocks noGrp="1"/>
          </p:cNvSpPr>
          <p:nvPr>
            <p:ph type="sldNum" idx="12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5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5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5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5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7.png"/><Relationship Id="rId3" Type="http://schemas.openxmlformats.org/officeDocument/2006/relationships/image" Target="../media/image5.png"/><Relationship Id="rId7" Type="http://schemas.openxmlformats.org/officeDocument/2006/relationships/image" Target="../media/image113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5.png"/><Relationship Id="rId5" Type="http://schemas.openxmlformats.org/officeDocument/2006/relationships/image" Target="../media/image111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10.png"/><Relationship Id="rId9" Type="http://schemas.openxmlformats.org/officeDocument/2006/relationships/image" Target="../media/image108.png"/><Relationship Id="rId14" Type="http://schemas.openxmlformats.org/officeDocument/2006/relationships/image" Target="../media/image1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hyperlink" Target="https://scam-shield-cyan.vercel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github.com/anjanabva/Scam-Shield" TargetMode="Externa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470" y="4679100"/>
            <a:ext cx="356940" cy="210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/>
          <p:nvPr/>
        </p:nvSpPr>
        <p:spPr>
          <a:xfrm>
            <a:off x="7722270" y="357210"/>
            <a:ext cx="992790" cy="15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GSW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7722270" y="517050"/>
            <a:ext cx="992790" cy="15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Scam Shield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42900" y="2529090"/>
            <a:ext cx="4793310" cy="89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400" b="1" i="0" u="none" strike="noStrike" cap="none">
                <a:solidFill>
                  <a:srgbClr val="4BC9F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Scam Shield</a:t>
            </a:r>
            <a:endParaRPr sz="6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28760" y="4239270"/>
            <a:ext cx="4757400" cy="23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AI-Powered Real-Time Digital Fraud Detection Platform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857250" y="4593510"/>
            <a:ext cx="2350080" cy="1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1" u="none" strike="noStrike" cap="none">
                <a:solidFill>
                  <a:srgbClr val="4BC9F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Defeating Fraud &amp; Digital Arrest Scams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5050" y="2536110"/>
            <a:ext cx="2300130" cy="23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700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/>
          <p:nvPr/>
        </p:nvSpPr>
        <p:spPr>
          <a:xfrm>
            <a:off x="428760" y="4587840"/>
            <a:ext cx="95688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 of Contents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257390" y="676080"/>
            <a:ext cx="785430" cy="41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2328750" y="778680"/>
            <a:ext cx="1571400" cy="20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&amp; Urgency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1257390" y="1158840"/>
            <a:ext cx="785430" cy="41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2328750" y="1261710"/>
            <a:ext cx="1742850" cy="20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 &amp; User Value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257390" y="1641600"/>
            <a:ext cx="785430" cy="41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2328750" y="1744470"/>
            <a:ext cx="2635740" cy="20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Innovation: Intelligence Flywheel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257390" y="2124630"/>
            <a:ext cx="785430" cy="41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2328750" y="2227500"/>
            <a:ext cx="1835730" cy="20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Architecture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1257390" y="2607390"/>
            <a:ext cx="785430" cy="41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2328750" y="2710260"/>
            <a:ext cx="2499930" cy="20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Experience &amp; Features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257390" y="3090420"/>
            <a:ext cx="785430" cy="41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2328750" y="3193020"/>
            <a:ext cx="1335690" cy="20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Impact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1257390" y="3573180"/>
            <a:ext cx="785430" cy="41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2328750" y="3676050"/>
            <a:ext cx="1785780" cy="20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 &amp; Roadmap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257390" y="4056210"/>
            <a:ext cx="785430" cy="41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328750" y="4158810"/>
            <a:ext cx="613980" cy="20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B7E2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Closing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470" y="2950290"/>
            <a:ext cx="3871530" cy="76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0580" y="650160"/>
            <a:ext cx="4186080" cy="347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0600" y="2371680"/>
            <a:ext cx="3686040" cy="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428760" y="444420"/>
            <a:ext cx="3857490" cy="100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&amp; Urgency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28760" y="1735830"/>
            <a:ext cx="3857490" cy="1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 fraud types users face daily: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85800" y="2000160"/>
            <a:ext cx="155709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Phishing links &amp; fake support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0090" y="2007450"/>
            <a:ext cx="15687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685800" y="2228850"/>
            <a:ext cx="169992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UPI/OTP/PIN social engineering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0090" y="2235870"/>
            <a:ext cx="15687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685800" y="2457540"/>
            <a:ext cx="154278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Romance &amp; investment fraud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0090" y="2464560"/>
            <a:ext cx="15687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685800" y="2685960"/>
            <a:ext cx="182142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“Digital arrest” intimidation scams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0090" y="2693250"/>
            <a:ext cx="15687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571590" y="3071790"/>
            <a:ext cx="360018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current solutions fail: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71590" y="3271860"/>
            <a:ext cx="360018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tools help </a:t>
            </a:r>
            <a:r>
              <a:rPr lang="en-GB" sz="800" b="0" i="1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</a:t>
            </a: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loss; users need </a:t>
            </a:r>
            <a:r>
              <a:rPr lang="en-GB" sz="8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instant verification</a:t>
            </a: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before acting.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28760" y="3820230"/>
            <a:ext cx="3857490" cy="1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makes it hard: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42870" y="4084560"/>
            <a:ext cx="212139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emotional pressure (fear/urgency)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0090" y="4086180"/>
            <a:ext cx="11394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685800" y="4313250"/>
            <a:ext cx="170721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Non-technical and elderly users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8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090" y="4314870"/>
            <a:ext cx="15687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657180" y="4541940"/>
            <a:ext cx="274293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Rapidly evolving scam scripts + spoofed caller IDs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8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0090" y="4543560"/>
            <a:ext cx="12825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>
            <a:off x="4807620" y="1156140"/>
            <a:ext cx="100575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Reactive (Current)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8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800600" y="1371600"/>
            <a:ext cx="771390" cy="5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/>
          <p:nvPr/>
        </p:nvSpPr>
        <p:spPr>
          <a:xfrm>
            <a:off x="4864860" y="1441800"/>
            <a:ext cx="642600" cy="38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04A5C"/>
                </a:solidFill>
                <a:highlight>
                  <a:srgbClr val="E5E7E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Scam message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607900" y="1564380"/>
            <a:ext cx="121230" cy="13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765040" y="1371600"/>
            <a:ext cx="778410" cy="5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5836320" y="1441800"/>
            <a:ext cx="642330" cy="38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04A5C"/>
                </a:solidFill>
                <a:highlight>
                  <a:srgbClr val="E5E7E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User action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8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79360" y="1564380"/>
            <a:ext cx="121230" cy="13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736500" y="1371600"/>
            <a:ext cx="785430" cy="5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6807780" y="1441800"/>
            <a:ext cx="643140" cy="38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DC2626"/>
                </a:solidFill>
                <a:highlight>
                  <a:srgbClr val="FEE2E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LOSS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8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558110" y="1564380"/>
            <a:ext cx="121230" cy="13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715250" y="1371600"/>
            <a:ext cx="771390" cy="5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7779780" y="1441800"/>
            <a:ext cx="642600" cy="38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04A5C"/>
                </a:solidFill>
                <a:highlight>
                  <a:srgbClr val="D1D5D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Report (too late)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807620" y="2887110"/>
            <a:ext cx="132435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Preventive (Scam Shield)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8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800600" y="3107430"/>
            <a:ext cx="799740" cy="5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/>
          <p:nvPr/>
        </p:nvSpPr>
        <p:spPr>
          <a:xfrm>
            <a:off x="4864860" y="3173040"/>
            <a:ext cx="671220" cy="38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04A5C"/>
                </a:solidFill>
                <a:highlight>
                  <a:srgbClr val="E5E7E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Scam message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8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643540" y="3300480"/>
            <a:ext cx="113940" cy="13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5765040" y="3071790"/>
            <a:ext cx="871290" cy="6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6047190" y="3365820"/>
            <a:ext cx="306990" cy="10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04A5C"/>
                </a:solidFill>
                <a:highlight>
                  <a:srgbClr val="46CDF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VERIFY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150870" y="3236220"/>
            <a:ext cx="99630" cy="10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643620" y="3300480"/>
            <a:ext cx="113940" cy="13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preencoded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00760" y="3107430"/>
            <a:ext cx="799740" cy="5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/>
          <p:nvPr/>
        </p:nvSpPr>
        <p:spPr>
          <a:xfrm>
            <a:off x="6865020" y="3173040"/>
            <a:ext cx="671220" cy="38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16A34A"/>
                </a:solidFill>
                <a:highlight>
                  <a:srgbClr val="DCFCE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SAFE ACTION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5900850" y="4329180"/>
            <a:ext cx="148554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1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Reactive vs Preventive Timeline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470" y="2700270"/>
            <a:ext cx="3443040" cy="771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21820" y="1028700"/>
            <a:ext cx="2271510" cy="72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5150" y="1028700"/>
            <a:ext cx="2271510" cy="72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21820" y="1814400"/>
            <a:ext cx="2271510" cy="735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5150" y="1814400"/>
            <a:ext cx="2271510" cy="735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21820" y="2978910"/>
            <a:ext cx="2271510" cy="72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65150" y="2978910"/>
            <a:ext cx="2271510" cy="72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121820" y="3764880"/>
            <a:ext cx="4614570" cy="6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428760" y="690390"/>
            <a:ext cx="3428730" cy="100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Red Flags We Target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28760" y="1981800"/>
            <a:ext cx="3428730" cy="1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Explainable, Not Just a Label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28760" y="2231820"/>
            <a:ext cx="3428730" cy="36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Scam Shield identifies specific behavioral and technical cues to provide users with transparent reasoning for every verdict.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71590" y="2826090"/>
            <a:ext cx="317169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Detection Logic: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71590" y="3026160"/>
            <a:ext cx="317169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map message cues to known pressure tactics and payment steps used by modern fraudsters.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28760" y="3574530"/>
            <a:ext cx="3428730" cy="1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Red-flag checklist categories: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685800" y="3838860"/>
            <a:ext cx="143559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Message cues &amp; keywords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9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090" y="3843450"/>
            <a:ext cx="15687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/>
          <p:nvPr/>
        </p:nvSpPr>
        <p:spPr>
          <a:xfrm>
            <a:off x="685800" y="4067550"/>
            <a:ext cx="114993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High-pressure tactics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9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0090" y="4071870"/>
            <a:ext cx="15687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685800" y="4295970"/>
            <a:ext cx="127143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Irregular payment steps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9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0090" y="4300560"/>
            <a:ext cx="15687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4289220" y="801090"/>
            <a:ext cx="151281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UPI/OTP Scam Red Flags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36130" y="807300"/>
            <a:ext cx="106920" cy="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>
            <a:off x="4422060" y="1179630"/>
            <a:ext cx="59265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PIN Request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9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257630" y="1185840"/>
            <a:ext cx="113940" cy="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/>
          <p:nvPr/>
        </p:nvSpPr>
        <p:spPr>
          <a:xfrm>
            <a:off x="4264920" y="1372410"/>
            <a:ext cx="1985580" cy="23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“Enter PIN to receive money” (UPI PIN is for sending, not receiving)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779430" y="1179630"/>
            <a:ext cx="76410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Collect Request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9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600960" y="1185840"/>
            <a:ext cx="128250" cy="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6607980" y="1372410"/>
            <a:ext cx="1985580" cy="23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Unexpected “collect request” disguised as refund/cashback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450680" y="1969110"/>
            <a:ext cx="74979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 Access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9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257630" y="1971810"/>
            <a:ext cx="142560" cy="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/>
          <p:nvPr/>
        </p:nvSpPr>
        <p:spPr>
          <a:xfrm>
            <a:off x="4264920" y="2161890"/>
            <a:ext cx="1985580" cy="23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Requests to install remote access apps (e.g., AnyDesk/TeamViewer)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750810" y="1969110"/>
            <a:ext cx="67122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Fake QR Code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9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00960" y="1971810"/>
            <a:ext cx="99630" cy="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6607980" y="2161890"/>
            <a:ext cx="1985580" cy="23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QR code sent to “receive” money (QR is typically to pay)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339170" y="2751300"/>
            <a:ext cx="211005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“Digital Arrest” Scam Red Flags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19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136130" y="2757510"/>
            <a:ext cx="156870" cy="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/>
          <p:nvPr/>
        </p:nvSpPr>
        <p:spPr>
          <a:xfrm>
            <a:off x="4450680" y="3129840"/>
            <a:ext cx="72117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Impersonation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9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257630" y="3136050"/>
            <a:ext cx="142560" cy="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4264920" y="3322620"/>
            <a:ext cx="1985580" cy="23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Impersonation of police/CBI/ED; threats of arrest via video call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793740" y="3129840"/>
            <a:ext cx="42849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Isolation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9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600960" y="3136050"/>
            <a:ext cx="142560" cy="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/>
          <p:nvPr/>
        </p:nvSpPr>
        <p:spPr>
          <a:xfrm>
            <a:off x="6607980" y="3322620"/>
            <a:ext cx="1985580" cy="23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Isolation tactics: stay on call, don’t contact family/lawyer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436370" y="3919320"/>
            <a:ext cx="76410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“Safe Account”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9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4257630" y="3922020"/>
            <a:ext cx="128250" cy="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4264920" y="4112100"/>
            <a:ext cx="4328910" cy="11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“Safe account” transfers for “verification” purposes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880" y="3164670"/>
            <a:ext cx="3900150" cy="101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0440" y="321570"/>
            <a:ext cx="4843260" cy="43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428760" y="357210"/>
            <a:ext cx="3714390" cy="100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 Overview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28560" y="1669950"/>
            <a:ext cx="125712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user does: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470" y="1671570"/>
            <a:ext cx="156870" cy="1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428760" y="1870020"/>
            <a:ext cx="371439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paste a suspicious message / call script / email snippet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00210" y="2177280"/>
            <a:ext cx="237141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Scam Shield returns in seconds: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1470" y="2178900"/>
            <a:ext cx="128250" cy="1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/>
          <p:nvPr/>
        </p:nvSpPr>
        <p:spPr>
          <a:xfrm>
            <a:off x="600210" y="2391660"/>
            <a:ext cx="41418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Verdict: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0090" y="239328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/>
          <p:nvPr/>
        </p:nvSpPr>
        <p:spPr>
          <a:xfrm>
            <a:off x="1071630" y="2377350"/>
            <a:ext cx="136431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Scam / Suspicious / Safe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600210" y="2591730"/>
            <a:ext cx="95688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Confidence score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0090" y="259308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/>
          <p:nvPr/>
        </p:nvSpPr>
        <p:spPr>
          <a:xfrm>
            <a:off x="600210" y="2791530"/>
            <a:ext cx="174987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 flags detected (explainable)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0090" y="279315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600210" y="2991600"/>
            <a:ext cx="173556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Suggested next steps (do/don’t)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0090" y="299322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571590" y="3377430"/>
            <a:ext cx="345735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Pre-transfer interception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71590" y="3577500"/>
            <a:ext cx="345735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Stop the scam </a:t>
            </a:r>
            <a:r>
              <a:rPr lang="en-GB" sz="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 money moves</a:t>
            </a:r>
            <a:r>
              <a:rPr lang="en-GB" sz="8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or sensitive info is shared.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650160" y="4147470"/>
            <a:ext cx="162135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Conversational follow-up: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2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1470" y="4150440"/>
            <a:ext cx="178200" cy="1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/>
          <p:nvPr/>
        </p:nvSpPr>
        <p:spPr>
          <a:xfrm>
            <a:off x="571590" y="4361580"/>
            <a:ext cx="128574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Ask clarifying questions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2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0090" y="4364820"/>
            <a:ext cx="7128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>
            <a:off x="571590" y="4561650"/>
            <a:ext cx="176418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 safe response templates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2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0090" y="4564890"/>
            <a:ext cx="7128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571590" y="4761720"/>
            <a:ext cx="149283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Guide to reporting channels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0090" y="4764960"/>
            <a:ext cx="71280" cy="13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86320" y="657180"/>
            <a:ext cx="4171770" cy="3514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272450" y="735750"/>
            <a:ext cx="1307070" cy="3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/>
          <p:nvPr/>
        </p:nvSpPr>
        <p:spPr>
          <a:xfrm>
            <a:off x="7486560" y="842940"/>
            <a:ext cx="93555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FFFFFF"/>
                </a:solidFill>
                <a:highlight>
                  <a:srgbClr val="22C55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Real-Time Analysis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686470" y="4400460"/>
            <a:ext cx="177147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Interface Preview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880" y="3386070"/>
            <a:ext cx="3900150" cy="101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2060" y="657180"/>
            <a:ext cx="4585950" cy="3514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7870" y="878580"/>
            <a:ext cx="1614330" cy="406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7870" y="1771740"/>
            <a:ext cx="1614330" cy="406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7870" y="2664630"/>
            <a:ext cx="1614330" cy="406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36320" y="3486240"/>
            <a:ext cx="1757160" cy="606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/>
          <p:nvPr/>
        </p:nvSpPr>
        <p:spPr>
          <a:xfrm>
            <a:off x="428760" y="405270"/>
            <a:ext cx="3714390" cy="100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RAG-Grounded Verdicts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614250" y="1718010"/>
            <a:ext cx="150714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grounding matters: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2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470" y="1721520"/>
            <a:ext cx="14256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/>
          <p:nvPr/>
        </p:nvSpPr>
        <p:spPr>
          <a:xfrm>
            <a:off x="571590" y="1932390"/>
            <a:ext cx="295002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Scam scripts evolve daily; model memory can be stale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2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0090" y="1964520"/>
            <a:ext cx="71280" cy="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/>
          <p:nvPr/>
        </p:nvSpPr>
        <p:spPr>
          <a:xfrm>
            <a:off x="571590" y="2132460"/>
            <a:ext cx="332883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(and judges) need auditable reasoning, not a black box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2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0090" y="2164590"/>
            <a:ext cx="71280" cy="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650160" y="2425410"/>
            <a:ext cx="231444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Scam Shield grounds decisions: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2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21470" y="2428920"/>
            <a:ext cx="17820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/>
          <p:nvPr/>
        </p:nvSpPr>
        <p:spPr>
          <a:xfrm>
            <a:off x="571590" y="2639520"/>
            <a:ext cx="291438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 matching tactics from a curated scam corpus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2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0090" y="2671650"/>
            <a:ext cx="71280" cy="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/>
          <p:nvPr/>
        </p:nvSpPr>
        <p:spPr>
          <a:xfrm>
            <a:off x="571590" y="2839590"/>
            <a:ext cx="320004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Cite matched patterns/phrases and known scam playbooks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2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0090" y="2871720"/>
            <a:ext cx="71280" cy="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/>
          <p:nvPr/>
        </p:nvSpPr>
        <p:spPr>
          <a:xfrm>
            <a:off x="571590" y="3039660"/>
            <a:ext cx="3007260" cy="31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Combine with red-flag heuristics to produce a verdict + confidence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2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0090" y="3157650"/>
            <a:ext cx="71280" cy="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/>
          <p:nvPr/>
        </p:nvSpPr>
        <p:spPr>
          <a:xfrm>
            <a:off x="571590" y="3596940"/>
            <a:ext cx="345735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Grounded Evidence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571590" y="3797010"/>
            <a:ext cx="345735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Decisions are backed by real-world scam-tactics patterns, not just LLM probability.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628560" y="4366710"/>
            <a:ext cx="124983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user sees: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21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21470" y="4364820"/>
            <a:ext cx="156870" cy="1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/>
          <p:nvPr/>
        </p:nvSpPr>
        <p:spPr>
          <a:xfrm>
            <a:off x="457110" y="4566780"/>
            <a:ext cx="368604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“Why this is risky” bullets + referenced scam pattern snippets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6497280" y="1001160"/>
            <a:ext cx="43551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text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2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50910" y="1414530"/>
            <a:ext cx="128250" cy="22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/>
          <p:nvPr/>
        </p:nvSpPr>
        <p:spPr>
          <a:xfrm>
            <a:off x="6340140" y="1896480"/>
            <a:ext cx="74979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 tactics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2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650910" y="2307420"/>
            <a:ext cx="128250" cy="22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/>
          <p:nvPr/>
        </p:nvSpPr>
        <p:spPr>
          <a:xfrm>
            <a:off x="6350670" y="2791530"/>
            <a:ext cx="72846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 reasoning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2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650910" y="3200310"/>
            <a:ext cx="128250" cy="22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/>
          <p:nvPr/>
        </p:nvSpPr>
        <p:spPr>
          <a:xfrm>
            <a:off x="6247260" y="3682260"/>
            <a:ext cx="935550" cy="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Explainable verdict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21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543800" y="2228850"/>
            <a:ext cx="117126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/>
          <p:nvPr/>
        </p:nvSpPr>
        <p:spPr>
          <a:xfrm>
            <a:off x="7543800" y="2198610"/>
            <a:ext cx="105705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1" u="none" strike="noStrike" cap="none">
                <a:solidFill>
                  <a:srgbClr val="004A5C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Grounded in Pinecone Vector DB with up-to-date scam tactics.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283360" y="4336200"/>
            <a:ext cx="286308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 Flow: User Text to Explainable Verdict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470" y="1078650"/>
            <a:ext cx="5157540" cy="649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470" y="1935900"/>
            <a:ext cx="5157540" cy="671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470" y="2814750"/>
            <a:ext cx="5157540" cy="9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1470" y="3957660"/>
            <a:ext cx="5157540" cy="69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71740" y="4250610"/>
            <a:ext cx="949860" cy="27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71720" y="4250610"/>
            <a:ext cx="1357020" cy="27837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/>
          <p:nvPr/>
        </p:nvSpPr>
        <p:spPr>
          <a:xfrm>
            <a:off x="428760" y="357210"/>
            <a:ext cx="5143230" cy="50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Architecture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549990" y="1210140"/>
            <a:ext cx="490023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 Layer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2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14710" y="1314360"/>
            <a:ext cx="1371330" cy="31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/>
          <p:nvPr/>
        </p:nvSpPr>
        <p:spPr>
          <a:xfrm>
            <a:off x="2450250" y="1398600"/>
            <a:ext cx="109998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React (Vite + Tailwind)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950290" y="176445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2"/>
          <p:cNvSpPr/>
          <p:nvPr/>
        </p:nvSpPr>
        <p:spPr>
          <a:xfrm>
            <a:off x="549990" y="2070090"/>
            <a:ext cx="490023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Router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2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607310" y="2193210"/>
            <a:ext cx="1499850" cy="31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/>
          <p:nvPr/>
        </p:nvSpPr>
        <p:spPr>
          <a:xfrm>
            <a:off x="1743120" y="2272590"/>
            <a:ext cx="122850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FastAPI Backend (Async)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2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78980" y="2193210"/>
            <a:ext cx="1214190" cy="31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/>
          <p:nvPr/>
        </p:nvSpPr>
        <p:spPr>
          <a:xfrm>
            <a:off x="3314790" y="2272590"/>
            <a:ext cx="94284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Server-Sent Events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2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950290" y="264330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/>
          <p:nvPr/>
        </p:nvSpPr>
        <p:spPr>
          <a:xfrm>
            <a:off x="549990" y="2944350"/>
            <a:ext cx="490023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Engines &amp; Modules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2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2970" y="3107430"/>
            <a:ext cx="2421360" cy="2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2"/>
          <p:cNvSpPr/>
          <p:nvPr/>
        </p:nvSpPr>
        <p:spPr>
          <a:xfrm>
            <a:off x="635850" y="3172770"/>
            <a:ext cx="223560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Detection Engine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2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036150" y="3107430"/>
            <a:ext cx="2421360" cy="2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2"/>
          <p:cNvSpPr/>
          <p:nvPr/>
        </p:nvSpPr>
        <p:spPr>
          <a:xfrm>
            <a:off x="3129030" y="3172770"/>
            <a:ext cx="223560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 Engine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2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2970" y="3379050"/>
            <a:ext cx="2421360" cy="2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/>
          <p:nvPr/>
        </p:nvSpPr>
        <p:spPr>
          <a:xfrm>
            <a:off x="635850" y="3444390"/>
            <a:ext cx="223560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Intelligence Module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2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036150" y="3379050"/>
            <a:ext cx="2421360" cy="2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/>
          <p:nvPr/>
        </p:nvSpPr>
        <p:spPr>
          <a:xfrm>
            <a:off x="3129030" y="3444390"/>
            <a:ext cx="223560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MHA / NCRB Alert Generator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2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950290" y="378621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/>
          <p:nvPr/>
        </p:nvSpPr>
        <p:spPr>
          <a:xfrm>
            <a:off x="549990" y="4087260"/>
            <a:ext cx="490023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External Services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2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885950" y="4321890"/>
            <a:ext cx="10692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2"/>
          <p:cNvSpPr/>
          <p:nvPr/>
        </p:nvSpPr>
        <p:spPr>
          <a:xfrm>
            <a:off x="2039580" y="4315950"/>
            <a:ext cx="55701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OpenAI API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2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986200" y="432189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/>
          <p:nvPr/>
        </p:nvSpPr>
        <p:spPr>
          <a:xfrm>
            <a:off x="3132540" y="4315950"/>
            <a:ext cx="97119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Pinecone Vector DB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5857920" y="403650"/>
            <a:ext cx="2857140" cy="1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Flow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6114960" y="667980"/>
            <a:ext cx="171423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(Vite + Tailwind) frontend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2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50630" y="642870"/>
            <a:ext cx="185490" cy="1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2"/>
          <p:cNvSpPr/>
          <p:nvPr/>
        </p:nvSpPr>
        <p:spPr>
          <a:xfrm>
            <a:off x="5857920" y="653670"/>
            <a:ext cx="17118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b="1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6114960" y="896670"/>
            <a:ext cx="133569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FastAPI backend (async)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2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50630" y="871560"/>
            <a:ext cx="185490" cy="1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2"/>
          <p:cNvSpPr/>
          <p:nvPr/>
        </p:nvSpPr>
        <p:spPr>
          <a:xfrm>
            <a:off x="5857920" y="882360"/>
            <a:ext cx="17118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b="1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6109830" y="1125090"/>
            <a:ext cx="2107080" cy="31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Detection Engine (Digital Arrest / Scam Classifier)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22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850630" y="1185840"/>
            <a:ext cx="185490" cy="1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/>
          <p:nvPr/>
        </p:nvSpPr>
        <p:spPr>
          <a:xfrm>
            <a:off x="5857920" y="1196640"/>
            <a:ext cx="16605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b="1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6114960" y="1525230"/>
            <a:ext cx="255015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 Engine (scam tactics corpus via Pinecone)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2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50630" y="1500120"/>
            <a:ext cx="185490" cy="1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/>
          <p:nvPr/>
        </p:nvSpPr>
        <p:spPr>
          <a:xfrm>
            <a:off x="5857920" y="1510920"/>
            <a:ext cx="17118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b="1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6111720" y="1753920"/>
            <a:ext cx="2135700" cy="31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Intelligence Module (clustering + trending)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2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50630" y="1814400"/>
            <a:ext cx="185490" cy="1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/>
          <p:nvPr/>
        </p:nvSpPr>
        <p:spPr>
          <a:xfrm>
            <a:off x="5857920" y="1825200"/>
            <a:ext cx="16767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b="1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6114960" y="2153790"/>
            <a:ext cx="136431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 Client → OpenAI API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2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50630" y="2128950"/>
            <a:ext cx="185490" cy="1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2"/>
          <p:cNvSpPr/>
          <p:nvPr/>
        </p:nvSpPr>
        <p:spPr>
          <a:xfrm>
            <a:off x="5857920" y="2139480"/>
            <a:ext cx="17118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b="1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6114960" y="2382480"/>
            <a:ext cx="154980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MHA / NCRB Alert Generator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2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50630" y="2357370"/>
            <a:ext cx="185490" cy="1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/>
          <p:nvPr/>
        </p:nvSpPr>
        <p:spPr>
          <a:xfrm>
            <a:off x="5857920" y="2368170"/>
            <a:ext cx="17118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b="1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6114960" y="2611170"/>
            <a:ext cx="225720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Server-Sent Events (streaming responses)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2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50630" y="2586060"/>
            <a:ext cx="185490" cy="1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/>
          <p:nvPr/>
        </p:nvSpPr>
        <p:spPr>
          <a:xfrm>
            <a:off x="5857920" y="2596860"/>
            <a:ext cx="17118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b="1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22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765040" y="2900340"/>
            <a:ext cx="2900070" cy="183573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2"/>
          <p:cNvSpPr/>
          <p:nvPr/>
        </p:nvSpPr>
        <p:spPr>
          <a:xfrm>
            <a:off x="5857920" y="4625640"/>
            <a:ext cx="285714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1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Vector Database Grounding &amp; Similarity Search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160" y="1064340"/>
            <a:ext cx="2557170" cy="749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6150" y="1064340"/>
            <a:ext cx="2557170" cy="749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7160" y="1871640"/>
            <a:ext cx="2557170" cy="8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36150" y="1871640"/>
            <a:ext cx="2557170" cy="8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7160" y="2821770"/>
            <a:ext cx="2557170" cy="8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36150" y="2821770"/>
            <a:ext cx="2557170" cy="8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470" y="3900420"/>
            <a:ext cx="5157540" cy="1242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3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2920" y="4300560"/>
            <a:ext cx="2300130" cy="1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07430" y="4300560"/>
            <a:ext cx="230013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3"/>
          <p:cNvSpPr/>
          <p:nvPr/>
        </p:nvSpPr>
        <p:spPr>
          <a:xfrm>
            <a:off x="428760" y="357210"/>
            <a:ext cx="5143230" cy="50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Capabilities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664470" y="1238760"/>
            <a:ext cx="91422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Analysis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578610" y="1438560"/>
            <a:ext cx="2214270" cy="13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scam analysis with explainable red flags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23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00310" y="1228770"/>
            <a:ext cx="192510" cy="22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3"/>
          <p:cNvSpPr/>
          <p:nvPr/>
        </p:nvSpPr>
        <p:spPr>
          <a:xfrm>
            <a:off x="3471930" y="1267110"/>
            <a:ext cx="58563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Assistant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3207600" y="1495800"/>
            <a:ext cx="2214270" cy="13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 AI assistant for follow-up guidance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23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71590" y="2036070"/>
            <a:ext cx="142560" cy="22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3"/>
          <p:cNvSpPr/>
          <p:nvPr/>
        </p:nvSpPr>
        <p:spPr>
          <a:xfrm>
            <a:off x="792990" y="2077920"/>
            <a:ext cx="104274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 Knowledge Base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578610" y="2306610"/>
            <a:ext cx="2214270" cy="27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RAG-powered knowledge base (continuously updatable)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23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200310" y="2036070"/>
            <a:ext cx="156870" cy="22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3"/>
          <p:cNvSpPr/>
          <p:nvPr/>
        </p:nvSpPr>
        <p:spPr>
          <a:xfrm>
            <a:off x="3436020" y="2077920"/>
            <a:ext cx="91422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Intelligence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3207600" y="2306610"/>
            <a:ext cx="2214270" cy="27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Threat-intelligence view: similar submissions + trending campaigns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23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71590" y="2986200"/>
            <a:ext cx="178200" cy="22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/>
          <p:nvPr/>
        </p:nvSpPr>
        <p:spPr>
          <a:xfrm>
            <a:off x="828630" y="3028050"/>
            <a:ext cx="80703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Alert Generation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578610" y="3256740"/>
            <a:ext cx="2214270" cy="27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MHA/NCRB-style alert generation for auditable reporting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23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200310" y="2986200"/>
            <a:ext cx="156870" cy="22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3"/>
          <p:cNvSpPr/>
          <p:nvPr/>
        </p:nvSpPr>
        <p:spPr>
          <a:xfrm>
            <a:off x="3436020" y="3028050"/>
            <a:ext cx="50706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Modern UI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3207600" y="3256740"/>
            <a:ext cx="2214270" cy="13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Modern glassmorphism dark UI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600210" y="4085370"/>
            <a:ext cx="480033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Feature-to-Value Map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600210" y="4314060"/>
            <a:ext cx="38556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46CD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600210" y="4578390"/>
            <a:ext cx="228582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Detection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600210" y="4778460"/>
            <a:ext cx="228582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Explainable Red Flags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600210" y="4978530"/>
            <a:ext cx="2285820" cy="1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 Guidance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3114720" y="4314060"/>
            <a:ext cx="59994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46CD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BENEFIT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3243240" y="4585410"/>
            <a:ext cx="92853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Safety &amp; Prevention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23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107430" y="4600530"/>
            <a:ext cx="85590" cy="9261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3"/>
          <p:cNvSpPr/>
          <p:nvPr/>
        </p:nvSpPr>
        <p:spPr>
          <a:xfrm>
            <a:off x="3243240" y="4785480"/>
            <a:ext cx="111429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Clarity &amp; Understanding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3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107430" y="4800600"/>
            <a:ext cx="85590" cy="9261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3"/>
          <p:cNvSpPr/>
          <p:nvPr/>
        </p:nvSpPr>
        <p:spPr>
          <a:xfrm>
            <a:off x="3243240" y="4985550"/>
            <a:ext cx="971190" cy="1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Confidence in Action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23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107430" y="5000670"/>
            <a:ext cx="85590" cy="9261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3"/>
          <p:cNvSpPr/>
          <p:nvPr/>
        </p:nvSpPr>
        <p:spPr>
          <a:xfrm>
            <a:off x="5857920" y="928800"/>
            <a:ext cx="2857140" cy="1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Features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23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50630" y="1257390"/>
            <a:ext cx="11394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3"/>
          <p:cNvSpPr/>
          <p:nvPr/>
        </p:nvSpPr>
        <p:spPr>
          <a:xfrm>
            <a:off x="6043680" y="1235790"/>
            <a:ext cx="267138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scam analysis with explainable red flags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23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850630" y="1714500"/>
            <a:ext cx="15687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3"/>
          <p:cNvSpPr/>
          <p:nvPr/>
        </p:nvSpPr>
        <p:spPr>
          <a:xfrm>
            <a:off x="6086610" y="1693170"/>
            <a:ext cx="247860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 AI assistant for follow-up guidance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23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850630" y="2000160"/>
            <a:ext cx="11394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3"/>
          <p:cNvSpPr/>
          <p:nvPr/>
        </p:nvSpPr>
        <p:spPr>
          <a:xfrm>
            <a:off x="6043680" y="1978830"/>
            <a:ext cx="267138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RAG-powered knowledge base (continuously updatable)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23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850630" y="2457540"/>
            <a:ext cx="15687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3"/>
          <p:cNvSpPr/>
          <p:nvPr/>
        </p:nvSpPr>
        <p:spPr>
          <a:xfrm>
            <a:off x="6086610" y="2435940"/>
            <a:ext cx="262872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Threat-intelligence view: similar submissions + trending campaigns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23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5850630" y="2914650"/>
            <a:ext cx="9963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3"/>
          <p:cNvSpPr/>
          <p:nvPr/>
        </p:nvSpPr>
        <p:spPr>
          <a:xfrm>
            <a:off x="6029370" y="2893320"/>
            <a:ext cx="268569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MHA/NCRB-style alert generation for auditable reporting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23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850630" y="3371760"/>
            <a:ext cx="142560" cy="1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3"/>
          <p:cNvSpPr/>
          <p:nvPr/>
        </p:nvSpPr>
        <p:spPr>
          <a:xfrm>
            <a:off x="6072300" y="3350430"/>
            <a:ext cx="169290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Modern glassmorphism dark UI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470" y="4536270"/>
            <a:ext cx="8136450" cy="42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36860" y="4479030"/>
            <a:ext cx="164160" cy="1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4"/>
          <p:cNvSpPr/>
          <p:nvPr/>
        </p:nvSpPr>
        <p:spPr>
          <a:xfrm>
            <a:off x="428760" y="357210"/>
            <a:ext cx="8286570" cy="50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Impact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2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470" y="907200"/>
            <a:ext cx="6414930" cy="30699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4"/>
          <p:cNvSpPr/>
          <p:nvPr/>
        </p:nvSpPr>
        <p:spPr>
          <a:xfrm>
            <a:off x="542970" y="974430"/>
            <a:ext cx="617193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matters:</a:t>
            </a:r>
            <a:r>
              <a:rPr lang="en-GB" sz="800" b="0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Preventing the first mistake is cheaper than recovering losses—especially for digital arrest scams.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2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1470" y="1421550"/>
            <a:ext cx="356940" cy="36396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4"/>
          <p:cNvSpPr/>
          <p:nvPr/>
        </p:nvSpPr>
        <p:spPr>
          <a:xfrm>
            <a:off x="428760" y="1431540"/>
            <a:ext cx="34263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highlight>
                  <a:srgbClr val="0287A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857250" y="1488780"/>
            <a:ext cx="349650" cy="22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B2C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428760" y="1945890"/>
            <a:ext cx="260955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3B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Go-to-market path: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428760" y="2174580"/>
            <a:ext cx="2609550" cy="3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free instant checks + premium guidance (family protection plans; elderly-friendly)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428760" y="2660310"/>
            <a:ext cx="260955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3B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Monetization: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428760" y="2889000"/>
            <a:ext cx="2609550" cy="185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Premium tiers (unlimited scans, family plans)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2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57550" y="1421550"/>
            <a:ext cx="363960" cy="36396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4"/>
          <p:cNvSpPr/>
          <p:nvPr/>
        </p:nvSpPr>
        <p:spPr>
          <a:xfrm>
            <a:off x="3267000" y="1431540"/>
            <a:ext cx="34263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004A5C"/>
                </a:solidFill>
                <a:highlight>
                  <a:srgbClr val="46CDF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3695760" y="1488780"/>
            <a:ext cx="335610" cy="22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B2B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3267000" y="1945890"/>
            <a:ext cx="260955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3B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Go-to-market path: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3267000" y="2174580"/>
            <a:ext cx="2609550" cy="3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license to banks/fintechs/telecom — fraud-risk endpoints embedded at point of risk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3267000" y="2660310"/>
            <a:ext cx="260955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3B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Monetization: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3267000" y="2889000"/>
            <a:ext cx="2609550" cy="185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Enterprise API (pay-per-call risk scoring)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2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3630" y="1421550"/>
            <a:ext cx="363960" cy="36396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4"/>
          <p:cNvSpPr/>
          <p:nvPr/>
        </p:nvSpPr>
        <p:spPr>
          <a:xfrm>
            <a:off x="6105510" y="1431540"/>
            <a:ext cx="34263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6534000" y="1488780"/>
            <a:ext cx="349650" cy="22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B2G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6105510" y="1945890"/>
            <a:ext cx="260955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3B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Go-to-market path: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6105510" y="2174580"/>
            <a:ext cx="2609550" cy="55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government &amp; cybercrime partnerships — intelligence packages + dashboards for cyber cells (e.g., I4C workflows)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6105510" y="2846070"/>
            <a:ext cx="260955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3B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Monetization: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6105510" y="3074490"/>
            <a:ext cx="2609550" cy="3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Government licensing (state cyber-cell subscriptions)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7706610" y="4157730"/>
            <a:ext cx="100845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Expansion Ladder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470" y="1421550"/>
            <a:ext cx="356940" cy="363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7550" y="1421550"/>
            <a:ext cx="363960" cy="363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3630" y="1421550"/>
            <a:ext cx="363960" cy="363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3630" y="1935900"/>
            <a:ext cx="2628720" cy="599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3630" y="2628990"/>
            <a:ext cx="2628720" cy="599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3630" y="3321810"/>
            <a:ext cx="2628720" cy="599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1470" y="4536270"/>
            <a:ext cx="8136450" cy="42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36860" y="4479030"/>
            <a:ext cx="164160" cy="1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5"/>
          <p:cNvSpPr/>
          <p:nvPr/>
        </p:nvSpPr>
        <p:spPr>
          <a:xfrm>
            <a:off x="428760" y="357210"/>
            <a:ext cx="8286570" cy="50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Scalability, UX &amp; Roadmap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" name="Google Shape;449;p2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470" y="907200"/>
            <a:ext cx="3764610" cy="30699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5"/>
          <p:cNvSpPr/>
          <p:nvPr/>
        </p:nvSpPr>
        <p:spPr>
          <a:xfrm>
            <a:off x="542970" y="974430"/>
            <a:ext cx="352161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Execution-Ready:</a:t>
            </a:r>
            <a:r>
              <a:rPr lang="en-GB" sz="800" b="0" i="0" u="none" strike="noStrike" cap="none">
                <a:solidFill>
                  <a:srgbClr val="004A5C"/>
                </a:solidFill>
                <a:highlight>
                  <a:srgbClr val="93DEF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Building for massive scale and intuitive safety.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p2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2970" y="1521720"/>
            <a:ext cx="113940" cy="16416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5"/>
          <p:cNvSpPr/>
          <p:nvPr/>
        </p:nvSpPr>
        <p:spPr>
          <a:xfrm>
            <a:off x="857250" y="1488780"/>
            <a:ext cx="892620" cy="22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2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8710" y="196452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5"/>
          <p:cNvSpPr/>
          <p:nvPr/>
        </p:nvSpPr>
        <p:spPr>
          <a:xfrm>
            <a:off x="628560" y="1945890"/>
            <a:ext cx="240948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Stateless FastAPI services (horizontal scaling)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2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8710" y="239328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5"/>
          <p:cNvSpPr/>
          <p:nvPr/>
        </p:nvSpPr>
        <p:spPr>
          <a:xfrm>
            <a:off x="628560" y="2374650"/>
            <a:ext cx="189999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 I/O + SSE for responsive UX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2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8710" y="265032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5"/>
          <p:cNvSpPr/>
          <p:nvPr/>
        </p:nvSpPr>
        <p:spPr>
          <a:xfrm>
            <a:off x="628560" y="2631690"/>
            <a:ext cx="240948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Pinecone offloads similarity search + clustering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p2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8710" y="307908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5"/>
          <p:cNvSpPr/>
          <p:nvPr/>
        </p:nvSpPr>
        <p:spPr>
          <a:xfrm>
            <a:off x="628560" y="3060450"/>
            <a:ext cx="240948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Modular intelligence layer; cache-friendly design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2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8710" y="350757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5"/>
          <p:cNvSpPr/>
          <p:nvPr/>
        </p:nvSpPr>
        <p:spPr>
          <a:xfrm>
            <a:off x="628560" y="3488940"/>
            <a:ext cx="240948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Multi-tenant ready for enterprise and per-agency deployments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25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379050" y="1521720"/>
            <a:ext cx="121230" cy="164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5"/>
          <p:cNvSpPr/>
          <p:nvPr/>
        </p:nvSpPr>
        <p:spPr>
          <a:xfrm>
            <a:off x="3695760" y="1488780"/>
            <a:ext cx="1142640" cy="22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UX Principles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p25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314790" y="1964520"/>
            <a:ext cx="9963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5"/>
          <p:cNvSpPr/>
          <p:nvPr/>
        </p:nvSpPr>
        <p:spPr>
          <a:xfrm>
            <a:off x="3460050" y="1945890"/>
            <a:ext cx="157842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Zero-friction (no signup wall)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25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314790" y="2221830"/>
            <a:ext cx="10692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5"/>
          <p:cNvSpPr/>
          <p:nvPr/>
        </p:nvSpPr>
        <p:spPr>
          <a:xfrm>
            <a:off x="3467070" y="2203200"/>
            <a:ext cx="2257200" cy="1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Confidence score + red-flag explanations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9" name="Google Shape;469;p25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314790" y="2478870"/>
            <a:ext cx="106920" cy="13554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5"/>
          <p:cNvSpPr/>
          <p:nvPr/>
        </p:nvSpPr>
        <p:spPr>
          <a:xfrm>
            <a:off x="3467070" y="2460240"/>
            <a:ext cx="2409480" cy="34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Accessibility for elderly users (clear language, calming UI)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1" name="Google Shape;471;p25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215130" y="1521720"/>
            <a:ext cx="121230" cy="164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5"/>
          <p:cNvSpPr/>
          <p:nvPr/>
        </p:nvSpPr>
        <p:spPr>
          <a:xfrm>
            <a:off x="6534000" y="1488780"/>
            <a:ext cx="792720" cy="22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Roadmap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6198390" y="2038770"/>
            <a:ext cx="242379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Near-term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6198390" y="2181600"/>
            <a:ext cx="2423790" cy="24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SMS/WhatsApp bot + IVR hotline ingestion; regional language support (Indian languages)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6198390" y="2731590"/>
            <a:ext cx="242379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Mid-term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6198390" y="2874690"/>
            <a:ext cx="2423790" cy="24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bank/telecom API partnerships; live video-call metadata analysis for digital-arrest interception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6198390" y="3424680"/>
            <a:ext cx="242379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Long-term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6198390" y="3567510"/>
            <a:ext cx="2423790" cy="24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 app + browser extension; public fraud-trend API for researchers and law enforcement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7802190" y="4157730"/>
            <a:ext cx="912870" cy="11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i="0" u="none" strike="noStrike" cap="none">
                <a:solidFill>
                  <a:srgbClr val="0287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3-Lane Roadmap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820" cy="514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94800">
            <a:off x="508640" y="977268"/>
            <a:ext cx="264330" cy="35991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6"/>
          <p:cNvSpPr/>
          <p:nvPr/>
        </p:nvSpPr>
        <p:spPr>
          <a:xfrm>
            <a:off x="857250" y="1028700"/>
            <a:ext cx="4807620" cy="25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sng" strike="noStrike" cap="non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/>
              </a:rPr>
              <a:t>github.com/anjanabva/Scam-Shield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428760" y="3786210"/>
            <a:ext cx="8286570" cy="999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0" b="1" i="0" u="none" strike="noStrike" cap="none">
                <a:solidFill>
                  <a:srgbClr val="004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7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6"/>
          <p:cNvSpPr txBox="1"/>
          <p:nvPr/>
        </p:nvSpPr>
        <p:spPr>
          <a:xfrm>
            <a:off x="503725" y="606500"/>
            <a:ext cx="4168800" cy="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7"/>
              </a:rPr>
              <a:t>Deployed Website</a:t>
            </a:r>
            <a:endParaRPr sz="1600" b="1" u="sng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On-screen Show (16:9)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Quattrocento Sans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ANJANA B Va</cp:lastModifiedBy>
  <cp:revision>1</cp:revision>
  <dcterms:modified xsi:type="dcterms:W3CDTF">2026-07-22T17:27:21Z</dcterms:modified>
</cp:coreProperties>
</file>